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00" y="3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21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4.png"/><Relationship Id="rId5" Type="http://schemas.openxmlformats.org/officeDocument/2006/relationships/image" Target="../media/image30.png"/><Relationship Id="rId10" Type="http://schemas.openxmlformats.org/officeDocument/2006/relationships/image" Target="../media/image4.png"/><Relationship Id="rId4" Type="http://schemas.openxmlformats.org/officeDocument/2006/relationships/image" Target="../media/image29.png"/><Relationship Id="rId9" Type="http://schemas.openxmlformats.org/officeDocument/2006/relationships/image" Target="../media/image2.png"/><Relationship Id="rId1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5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6931" cy="113362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28914" y="2838450"/>
            <a:ext cx="5324341" cy="666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550"/>
              </a:lnSpc>
              <a:spcBef>
                <a:spcPts val="0"/>
              </a:spcBef>
              <a:spcAft>
                <a:spcPts val="1560"/>
              </a:spcAft>
            </a:pPr>
            <a:r>
              <a:rPr sz="4186" b="1">
                <a:solidFill>
                  <a:srgbClr val="FFD700"/>
                </a:solidFill>
                <a:latin typeface="Roboto Flex"/>
              </a:rPr>
              <a:t>SX SYSTEMS LTD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262" y="3733799"/>
            <a:ext cx="1219169" cy="38100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100000">
                <a:srgbClr val="FF6B35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00339" y="4076699"/>
            <a:ext cx="5381490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0">
                <a:solidFill>
                  <a:srgbClr val="FFFFFF"/>
                </a:solidFill>
                <a:latin typeface="Roboto Flex"/>
              </a:rPr>
              <a:t>Soluciones Ecológicas para Infraestructura Vial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8439" y="5117646"/>
            <a:ext cx="285742" cy="2041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38479" y="5086350"/>
            <a:ext cx="81912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Ecológico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14797" y="5067299"/>
            <a:ext cx="9524" cy="3048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1510" y="5091404"/>
            <a:ext cx="285742" cy="2565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81550" y="5086350"/>
            <a:ext cx="70483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Probado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53096" y="5067299"/>
            <a:ext cx="9524" cy="3048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19809" y="5103067"/>
            <a:ext cx="285742" cy="23326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19849" y="5086350"/>
            <a:ext cx="73340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Rentable</a:t>
            </a:r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519" y="-310924"/>
            <a:ext cx="3599508" cy="35995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10" y="973195"/>
            <a:ext cx="6180707" cy="51403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05432" y="552450"/>
            <a:ext cx="4876678" cy="1333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550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FFD700"/>
                </a:solidFill>
                <a:latin typeface="Roboto Flex"/>
              </a:rPr>
              <a:t> Innovación</a:t>
            </a:r>
            <a:r>
              <a:rPr sz="1104"/>
              <a:t>
</a:t>
            </a:r>
            <a:r>
              <a:rPr sz="3348" b="1">
                <a:solidFill>
                  <a:srgbClr val="FFD700"/>
                </a:solidFill>
                <a:latin typeface="Roboto Flex"/>
              </a:rPr>
              <a:t>con Propósito </a:t>
            </a:r>
          </a:p>
        </p:txBody>
      </p:sp>
      <p:sp>
        <p:nvSpPr>
          <p:cNvPr id="5" name="Rectangle 4"/>
          <p:cNvSpPr/>
          <p:nvPr/>
        </p:nvSpPr>
        <p:spPr>
          <a:xfrm>
            <a:off x="6705432" y="2114550"/>
            <a:ext cx="914377" cy="38100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100000">
                <a:srgbClr val="FF6B35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5432" y="2705428"/>
            <a:ext cx="342891" cy="2660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38819" y="2609850"/>
            <a:ext cx="3390815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Tecnología UT Austin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8819" y="3019424"/>
            <a:ext cx="339081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Desarrollado por la Universidad de Texas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5432" y="3715899"/>
            <a:ext cx="342891" cy="245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38819" y="3609975"/>
            <a:ext cx="3257468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100% Ecológico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8819" y="4019549"/>
            <a:ext cx="325746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Productos no petroleros y sustentables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05432" y="4699766"/>
            <a:ext cx="342891" cy="27786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38819" y="4610099"/>
            <a:ext cx="371465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Alternativas Rentables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8819" y="5019675"/>
            <a:ext cx="371465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Soluciones económicas al asfalto tradicional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05432" y="5685111"/>
            <a:ext cx="342891" cy="30742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38819" y="5610224"/>
            <a:ext cx="281932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Certificado Internacional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819" y="6019800"/>
            <a:ext cx="281932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Probado y aprobado globalmente</a:t>
            </a:r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277" y="4240231"/>
            <a:ext cx="2130388" cy="21303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3438439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D700"/>
                </a:solidFill>
                <a:latin typeface="Roboto Flex"/>
              </a:rPr>
              <a:t>TOP-SEAL BLACK™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76618" y="228600"/>
            <a:ext cx="281932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9CA3AF"/>
                </a:solidFill>
                <a:latin typeface="Roboto Flex"/>
              </a:rPr>
              <a:t>Recubrimiento de Superficie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09625"/>
            <a:ext cx="5486262" cy="604837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847" y="1617279"/>
            <a:ext cx="342891" cy="2896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91135" y="1571625"/>
            <a:ext cx="2095447" cy="942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FFFFFF"/>
                </a:solidFill>
                <a:latin typeface="Roboto Flex"/>
              </a:rPr>
              <a:t>Carreteras Pavimentadas y No Pavimentadas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1135" y="2552700"/>
            <a:ext cx="2095447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Roboto Flex"/>
              </a:rPr>
              <a:t>Versatilidad total en aplicaciones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91375" y="1640927"/>
            <a:ext cx="342891" cy="2423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86662" y="1571625"/>
            <a:ext cx="2095447" cy="6286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FFFFFF"/>
                </a:solidFill>
                <a:latin typeface="Roboto Flex"/>
              </a:rPr>
              <a:t>Alternativa Económica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86662" y="2238375"/>
            <a:ext cx="2095447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Roboto Flex"/>
              </a:rPr>
              <a:t>Fracción del costo del asfalto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5847" y="3417504"/>
            <a:ext cx="342891" cy="28969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91135" y="3371850"/>
            <a:ext cx="209544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FFFFFF"/>
                </a:solidFill>
                <a:latin typeface="Roboto Flex"/>
              </a:rPr>
              <a:t>Fácil Aplicación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1135" y="3724274"/>
            <a:ext cx="2095447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Roboto Flex"/>
              </a:rPr>
              <a:t>Sin equipos especiales requeridos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91375" y="3423416"/>
            <a:ext cx="342891" cy="27786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486662" y="3371850"/>
            <a:ext cx="2095447" cy="6286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FFFFFF"/>
                </a:solidFill>
                <a:latin typeface="Roboto Flex"/>
              </a:rPr>
              <a:t>Apariencia Profesional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86662" y="4038599"/>
            <a:ext cx="2095447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CA3AF"/>
                </a:solidFill>
                <a:latin typeface="Roboto Flex"/>
              </a:rPr>
              <a:t>Similar al asfalto convencional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5847" y="5010149"/>
            <a:ext cx="5486262" cy="1085850"/>
          </a:xfrm>
          <a:prstGeom prst="rect">
            <a:avLst/>
          </a:prstGeom>
          <a:gradFill rotWithShape="1">
            <a:gsLst>
              <a:gs pos="0">
                <a:srgbClr val="111827"/>
              </a:gs>
              <a:gs pos="100000">
                <a:srgbClr val="1F2937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618962" y="5487034"/>
            <a:ext cx="10858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62540" y="5378617"/>
            <a:ext cx="457188" cy="34891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72125" y="5238749"/>
            <a:ext cx="429566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Ideal para Bajo Volumen de Tráfico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2125" y="5581649"/>
            <a:ext cx="429566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Solución perfecta cuando el asfalto no es necesario</a:t>
            </a:r>
          </a:p>
        </p:txBody>
      </p:sp>
      <p:pic>
        <p:nvPicPr>
          <p:cNvPr id="23" name="Imagen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5874" y="4915619"/>
            <a:ext cx="2130388" cy="21303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8" y="41031"/>
            <a:ext cx="12133533" cy="677593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09584" y="114300"/>
            <a:ext cx="167635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D700"/>
                </a:solidFill>
                <a:latin typeface="Roboto Flex"/>
              </a:rPr>
              <a:t>SX FOG™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537" y="228600"/>
            <a:ext cx="257168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9CA3AF"/>
                </a:solidFill>
                <a:latin typeface="Roboto Flex"/>
              </a:rPr>
              <a:t>Mantenimiento de Asfalto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84" y="1293429"/>
            <a:ext cx="342891" cy="289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2971" y="1209674"/>
            <a:ext cx="450521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Extiende la Vida Útil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2971" y="1590675"/>
            <a:ext cx="450521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Prolonga significativamente la duración del pavimento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584" y="2212099"/>
            <a:ext cx="342891" cy="3192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2971" y="2143125"/>
            <a:ext cx="342891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Reduce Pérdida de Virutas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2971" y="2524125"/>
            <a:ext cx="342891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Mantiene agregados y virutas en su lugar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584" y="3183977"/>
            <a:ext cx="342891" cy="2423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2971" y="3076574"/>
            <a:ext cx="333366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Sella Grietas Pequeñas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2971" y="3457575"/>
            <a:ext cx="3333666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Penetra profundamente en el pavimento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584" y="4115949"/>
            <a:ext cx="342891" cy="245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2971" y="4010024"/>
            <a:ext cx="372418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Sin Petróleo ni Solventes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2971" y="4391025"/>
            <a:ext cx="3724181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Cero compuestos orgánicos volátiles (VOCs)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584" y="5057775"/>
            <a:ext cx="5486262" cy="1400175"/>
          </a:xfrm>
          <a:prstGeom prst="rect">
            <a:avLst/>
          </a:prstGeom>
          <a:gradFill rotWithShape="1">
            <a:gsLst>
              <a:gs pos="0">
                <a:srgbClr val="111827"/>
              </a:gs>
              <a:gs pos="100000">
                <a:srgbClr val="1F2937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-24463" y="5691822"/>
            <a:ext cx="14001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6278" y="5560594"/>
            <a:ext cx="457188" cy="38501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85862" y="5286375"/>
            <a:ext cx="4381390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100% Seguro para el Medio Ambiente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862" y="5657850"/>
            <a:ext cx="4381390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Alternativa ideal y ecológica a selladores tradicionales</a:t>
            </a:r>
          </a:p>
        </p:txBody>
      </p:sp>
      <p:pic>
        <p:nvPicPr>
          <p:cNvPr id="23" name="Imagen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25" y="4976037"/>
            <a:ext cx="2130388" cy="21303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2066873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D700"/>
                </a:solidFill>
                <a:latin typeface="Roboto Flex"/>
              </a:rPr>
              <a:t>SX PRIME™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05052" y="228600"/>
            <a:ext cx="311459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9CA3AF"/>
                </a:solidFill>
                <a:latin typeface="Roboto Flex"/>
              </a:rPr>
              <a:t>Imprimación Base No Petrolera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09625"/>
            <a:ext cx="5486262" cy="604837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809625"/>
            <a:ext cx="5486262" cy="604837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  <a:lumMod val="62000"/>
                  <a:lumOff val="38000"/>
                </a:srgbClr>
              </a:gs>
              <a:gs pos="100000">
                <a:srgbClr val="0D0D0D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847" y="1436304"/>
            <a:ext cx="342891" cy="2896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29234" y="1352549"/>
            <a:ext cx="350511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Reemplazo Superior a MC-30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234" y="1733550"/>
            <a:ext cx="350511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Supera al estándar de la industria mundial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5847" y="2360886"/>
            <a:ext cx="342891" cy="3074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29234" y="2286000"/>
            <a:ext cx="328604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Probado por TxDOT y UT Austin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234" y="2667000"/>
            <a:ext cx="328604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Certificado por instituciones líderes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5847" y="3320940"/>
            <a:ext cx="342891" cy="2542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29234" y="3219449"/>
            <a:ext cx="295267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Cero VOCs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234" y="3600450"/>
            <a:ext cx="2952676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Sin compuestos orgánicos volátiles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5847" y="4236654"/>
            <a:ext cx="342891" cy="28969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29234" y="4152899"/>
            <a:ext cx="379085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Mayor Resistencia y Durabilidad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234" y="4533900"/>
            <a:ext cx="3790855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Mejor rendimiento que alternativas petroleras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5847" y="5200650"/>
            <a:ext cx="5486262" cy="1114425"/>
          </a:xfrm>
          <a:prstGeom prst="rect">
            <a:avLst/>
          </a:prstGeom>
          <a:gradFill rotWithShape="1">
            <a:gsLst>
              <a:gs pos="0">
                <a:srgbClr val="111827"/>
              </a:gs>
              <a:gs pos="100000">
                <a:srgbClr val="1F2937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604675" y="5691822"/>
            <a:ext cx="11144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62540" y="5569618"/>
            <a:ext cx="457188" cy="36696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72125" y="5429250"/>
            <a:ext cx="380037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Aprobado en Zonas Críticas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2125" y="5800725"/>
            <a:ext cx="3800379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Válido en áreas de no cumplimiento de ozono</a:t>
            </a:r>
          </a:p>
        </p:txBody>
      </p:sp>
      <p:pic>
        <p:nvPicPr>
          <p:cNvPr id="23" name="Imagen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271" y="5249881"/>
            <a:ext cx="2130388" cy="21303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439091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D700"/>
                </a:solidFill>
                <a:latin typeface="Roboto Flex"/>
              </a:rPr>
              <a:t>Aplicaciones Universales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09625"/>
            <a:ext cx="4876678" cy="604837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9625"/>
            <a:ext cx="4876678" cy="604837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  <a:lumMod val="56000"/>
                  <a:lumOff val="44000"/>
                </a:srgbClr>
              </a:gs>
              <a:gs pos="100000">
                <a:srgbClr val="0D0D0D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262" y="1436304"/>
            <a:ext cx="342891" cy="289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451" y="1352549"/>
            <a:ext cx="2152596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FFFFFF"/>
                </a:solidFill>
                <a:latin typeface="Roboto Flex"/>
              </a:rPr>
              <a:t>APLICACIONES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262" y="2356854"/>
            <a:ext cx="285742" cy="2011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24401" y="2114550"/>
            <a:ext cx="2304992" cy="685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Carreteras y Autopistas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6262" y="3089598"/>
            <a:ext cx="285742" cy="2216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24401" y="3028950"/>
            <a:ext cx="188590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Estacionamientos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86262" y="3649435"/>
            <a:ext cx="285742" cy="244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24401" y="3600450"/>
            <a:ext cx="216212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Aeródromos y Pistas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86262" y="4236972"/>
            <a:ext cx="285742" cy="2128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24401" y="4171950"/>
            <a:ext cx="217164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Calles Residenciales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838979" y="1436304"/>
            <a:ext cx="342891" cy="28969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296167" y="1352549"/>
            <a:ext cx="1523961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FFFFFF"/>
                </a:solidFill>
                <a:latin typeface="Roboto Flex"/>
              </a:rPr>
              <a:t>VENTAJAS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838979" y="2183946"/>
            <a:ext cx="285742" cy="20410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277118" y="2114550"/>
            <a:ext cx="180970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100% Ecológicos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838979" y="2740867"/>
            <a:ext cx="285742" cy="23326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277118" y="2686050"/>
            <a:ext cx="1047723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Rentables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838979" y="3293414"/>
            <a:ext cx="285742" cy="27117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77118" y="3257550"/>
            <a:ext cx="185732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Fáciles de Aplicar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838979" y="4043654"/>
            <a:ext cx="285742" cy="25659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77118" y="3829050"/>
            <a:ext cx="2304992" cy="685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Probados y Certificados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262" y="4895849"/>
            <a:ext cx="6095847" cy="1409699"/>
          </a:xfrm>
          <a:prstGeom prst="rect">
            <a:avLst/>
          </a:prstGeom>
          <a:gradFill rotWithShape="1">
            <a:gsLst>
              <a:gs pos="0">
                <a:srgbClr val="111827"/>
              </a:gs>
              <a:gs pos="100000">
                <a:srgbClr val="1F2937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4847453" y="5534658"/>
            <a:ext cx="1409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714857" y="5408194"/>
            <a:ext cx="457188" cy="38501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324441" y="5086350"/>
            <a:ext cx="5067173" cy="742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Soluciones Globales para Infraestructura Vial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4441" y="5829300"/>
            <a:ext cx="506717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Tecnología probada disponible en todo el mundo</a:t>
            </a:r>
          </a:p>
        </p:txBody>
      </p:sp>
      <p:pic>
        <p:nvPicPr>
          <p:cNvPr id="30" name="Imagen 2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587" y="610479"/>
            <a:ext cx="2130388" cy="21303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0D0D">
                  <a:lumMod val="89000"/>
                  <a:lumOff val="11000"/>
                  <a:alpha val="0"/>
                </a:srgbClr>
              </a:gs>
              <a:gs pos="50000">
                <a:srgbClr val="0D0D0D">
                  <a:alpha val="85000"/>
                </a:srgbClr>
              </a:gs>
              <a:gs pos="100000">
                <a:srgbClr val="0D0D0D">
                  <a:alpha val="9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71555" y="2152649"/>
            <a:ext cx="9191395" cy="800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5460"/>
              </a:lnSpc>
              <a:spcBef>
                <a:spcPts val="0"/>
              </a:spcBef>
              <a:spcAft>
                <a:spcPts val="4160"/>
              </a:spcAft>
            </a:pPr>
            <a:r>
              <a:rPr sz="3348" b="1" dirty="0" err="1">
                <a:solidFill>
                  <a:srgbClr val="FFD700"/>
                </a:solidFill>
                <a:latin typeface="Roboto Flex"/>
              </a:rPr>
              <a:t>Transformando</a:t>
            </a:r>
            <a:r>
              <a:rPr sz="3348" b="1" dirty="0">
                <a:solidFill>
                  <a:srgbClr val="FFD700"/>
                </a:solidFill>
                <a:latin typeface="Roboto Flex"/>
              </a:rPr>
              <a:t> </a:t>
            </a:r>
            <a:r>
              <a:rPr sz="3348" b="1" dirty="0" err="1">
                <a:solidFill>
                  <a:srgbClr val="FFD700"/>
                </a:solidFill>
                <a:latin typeface="Roboto Flex"/>
              </a:rPr>
              <a:t>Infraestructura</a:t>
            </a:r>
            <a:r>
              <a:rPr sz="3348" b="1" dirty="0">
                <a:solidFill>
                  <a:srgbClr val="FFD700"/>
                </a:solidFill>
                <a:latin typeface="Roboto Flex"/>
              </a:rPr>
              <a:t> Global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2160" y="3292642"/>
            <a:ext cx="457188" cy="3489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33466" y="3848099"/>
            <a:ext cx="2924101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SX SYSTEMS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466" y="4343400"/>
            <a:ext cx="2924101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MÉXICO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7253" y="3274594"/>
            <a:ext cx="457188" cy="3850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38559" y="3848099"/>
            <a:ext cx="2924101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Dirección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8559" y="4343400"/>
            <a:ext cx="2924101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Miguel Leandro Guerra #181-B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8559" y="4629150"/>
            <a:ext cx="2924101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Colonia Centro C.P. 47400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72345" y="3292642"/>
            <a:ext cx="457188" cy="3489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34126" y="3848099"/>
            <a:ext cx="2924101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FFFFFF"/>
                </a:solidFill>
                <a:latin typeface="Roboto Flex"/>
              </a:rPr>
              <a:t>Contacto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4126" y="4343400"/>
            <a:ext cx="2924101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(52) 474 742 1030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4126" y="4629150"/>
            <a:ext cx="2924101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(52) 474 742 1031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76478" y="5372100"/>
            <a:ext cx="6438739" cy="1028700"/>
          </a:xfrm>
          <a:prstGeom prst="roundRect">
            <a:avLst>
              <a:gd name="adj" fmla="val 14814"/>
            </a:avLst>
          </a:prstGeom>
          <a:gradFill rotWithShape="1">
            <a:gsLst>
              <a:gs pos="0">
                <a:srgbClr val="111827">
                  <a:alpha val="80000"/>
                </a:srgbClr>
              </a:gs>
              <a:gs pos="100000">
                <a:srgbClr val="1F2937">
                  <a:alpha val="80000"/>
                </a:srgbClr>
              </a:gs>
            </a:gsLst>
            <a:lin ang="10800000" scaled="0"/>
          </a:gradFill>
          <a:ln w="8255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66993" y="5711992"/>
            <a:ext cx="457188" cy="34891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76578" y="5562600"/>
            <a:ext cx="5048123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oboto Flex"/>
              </a:rPr>
              <a:t>Tecnología de la Universidad de Texas en Austin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6578" y="5905500"/>
            <a:ext cx="504812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Roboto Flex"/>
              </a:rPr>
              <a:t>Compañía de Comercialización de Tecnología UT</a:t>
            </a:r>
          </a:p>
        </p:txBody>
      </p:sp>
      <p:pic>
        <p:nvPicPr>
          <p:cNvPr id="21" name="Imagen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041" y="18595"/>
            <a:ext cx="2477407" cy="24774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286</Words>
  <Application>Microsoft Office PowerPoint</Application>
  <PresentationFormat>Panorámica</PresentationFormat>
  <Paragraphs>74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Roboto Flex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HECTOR ALVAREZ</dc:creator>
  <cp:keywords/>
  <dc:description>generated using python-pptx</dc:description>
  <cp:lastModifiedBy>HECTOR ALVAREZ</cp:lastModifiedBy>
  <cp:revision>7</cp:revision>
  <dcterms:created xsi:type="dcterms:W3CDTF">2013-01-27T09:14:16Z</dcterms:created>
  <dcterms:modified xsi:type="dcterms:W3CDTF">2026-02-18T22:14:51Z</dcterms:modified>
  <cp:category/>
</cp:coreProperties>
</file>